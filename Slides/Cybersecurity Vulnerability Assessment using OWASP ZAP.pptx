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6C5B4-C037-416F-BA69-089564A9B2E2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B5BBF2-062F-4D7E-8E00-5F62B00847D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169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B5BBF2-062F-4D7E-8E00-5F62B00847D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3047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924AE-848D-B0A7-9AD4-BA009C66F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541AF7-05D1-C18D-0297-FE8B109A3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79418-9CAC-9F76-EC79-912B46277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E7DD0-A703-C3CE-A284-9AA08D6A8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AAC90-1934-0259-3807-2871E7F9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227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B0225-CD72-7EE5-4C5D-6B241CF42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98F8B-898E-3DC7-E18F-7E83DA272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57B98-696C-2298-87E3-C8CFDEC7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16EFD-8F26-3C51-71A2-6F0AD6FA0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30084-C48F-B01D-40F6-A32D2D4B1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86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DF10-3AF6-E07A-0FB6-C37B7302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5CB93-D0ED-9CC2-9DBC-BBD622F70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314A0-F765-A381-2A28-702CA3B3E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6793E-E5FB-B214-3C46-05A920A4D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B8441-14C9-AE7A-7934-938BEC3D3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702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81DC-463A-BA99-8A44-FAA1F37EB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A387-1185-2422-ADBC-72A629FB75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134DAA-61F9-0773-3FC7-48B5DC9BE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BC4D8-3ACB-76B4-DC4A-C24AF1DD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9FC34-169E-00B9-714F-8584B28E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1E332-937E-1964-CAA5-8587FC67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362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F75E-EDBD-1F5C-DA8D-E2CB4433C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A865-844A-556B-79C9-68623C161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2C1594-3D02-000C-8ACF-133C0487C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F16FE6-9214-9285-C8D0-94FB22501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5EFE47-AC2F-9DED-BCF4-8A2604553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FF0E2-BE25-0C16-B4A2-EE87CE7B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B8F00-4238-FE8F-CAE7-21D653290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67CD3-3AB3-E6E2-6486-A7A0ADD2B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567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8BEF4-AB24-F826-3BD0-BB277DF2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5EE135-5F40-0B53-160D-20C00E24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5F36A-64EA-1C15-C50A-FDA3541BF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28066-280E-8D62-2C4F-8C77B3D1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804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AAE53-B1AC-16E8-D191-D974ABBE4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1D7E0D-2CA5-B482-DF76-0657DFD5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04C39E-CDC1-2549-C2F5-0B0D6FCA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68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B63F-D4B5-B2B1-7545-12C2B9EA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C97BB-A906-6659-B11C-413F69568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34D64-ABC2-C6C7-911E-4C0DA98FF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C50BC-E811-346A-6CDA-9C8BDB9F7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4D07A-7A9A-1C88-17E4-A8C36C5F4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8B68B-91DC-DE88-277C-20D26A82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519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683C-12FA-002F-7992-2202A1D76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D4882-FEAF-39CF-2832-25A799374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6C3BC-0679-CFEC-6584-46739A94E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139F4-401F-C8AB-5C50-432217F0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7B89E-20B2-CC04-4FE7-4783A4C37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4C750-4075-BC7B-DE1A-08B34DBC2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257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11B02-A50B-C7E9-E13E-C78296683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4B7FE-25E4-B529-D482-03F0F12B0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3530D-2C8B-25C4-BD09-C9C6F83C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9DCC7-8CD3-A6EB-D1FF-6F5ED4CBC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10128-FC99-0252-53BC-B7DD8BDBD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45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5D336B-D5BA-F220-53C1-F263F8A7D0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E67FE-F7E4-6CCD-5239-8899F3FCE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80368-8F8A-2356-746B-B3168EA30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72B8F-E2C0-5C35-8AAC-1563FCE12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9FD1C-6F21-A184-AD6D-E55CEAD14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32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61B77E-EE3E-3810-54A8-7394EB49D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76CAA-70CF-515B-CADA-0009A013B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97FF0-5164-DEA9-88A9-573139738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6A205-8C14-461F-B9AC-5CA29696A0F9}" type="datetimeFigureOut">
              <a:rPr lang="en-AU" smtClean="0"/>
              <a:t>17/10/2025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1799D-8EA7-7B72-41F0-140381DD3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80B4-4FFD-04DF-0011-A9810839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67074-4B5D-4A52-AEB5-A14470E6E1F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459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69" name="Rectangle 516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D1926F-9499-7DEF-7489-C54F0C6C9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1" y="320040"/>
            <a:ext cx="6471920" cy="324413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4000" u="sng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Cybersecurity Vulnerability Assessment using OWASP ZAP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599A7-0CD3-C9B3-9CF7-B40755A42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740889"/>
            <a:ext cx="6692827" cy="145975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Name: Khushi Tusharbhai Ajmeri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Student ID: 30473648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Unit: ITECH 1502 Cybersecurity Fundamentals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Week 12 presentation</a:t>
            </a:r>
          </a:p>
        </p:txBody>
      </p:sp>
      <p:sp>
        <p:nvSpPr>
          <p:cNvPr id="517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E66C1-6A62-57BE-FB90-2D2DBA80F8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89" r="20844" b="1"/>
          <a:stretch>
            <a:fillRect/>
          </a:stretch>
        </p:blipFill>
        <p:spPr>
          <a:xfrm>
            <a:off x="7233851" y="1343499"/>
            <a:ext cx="4635061" cy="441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16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22E0C-0139-76E9-2610-D9DA8F1E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u="sng" dirty="0">
                <a:solidFill>
                  <a:schemeClr val="tx2"/>
                </a:solidFill>
              </a:rPr>
              <a:t>Project Summary</a:t>
            </a:r>
            <a:endParaRPr lang="en-AU" sz="3600" u="sng" dirty="0">
              <a:solidFill>
                <a:schemeClr val="tx2"/>
              </a:solidFill>
            </a:endParaRPr>
          </a:p>
        </p:txBody>
      </p:sp>
      <p:pic>
        <p:nvPicPr>
          <p:cNvPr id="6146" name="Picture 2" descr="Navigating Human Vulnerability in Cybersecurity | Phin">
            <a:extLst>
              <a:ext uri="{FF2B5EF4-FFF2-40B4-BE49-F238E27FC236}">
                <a16:creationId xmlns:a16="http://schemas.microsoft.com/office/drawing/2014/main" id="{A45A4AA7-4781-87EB-F05C-8E0EE6C76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67" b="15363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A9971-EC12-5EBE-47A5-B2BA04017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A real-world security testing tool to understand how web applications are checked for vulnerabilities.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Goal: Test web application vulnerabilities using OWASP ZAP</a:t>
            </a:r>
          </a:p>
          <a:p>
            <a:r>
              <a:rPr lang="en-AU" sz="1800" dirty="0">
                <a:solidFill>
                  <a:schemeClr val="tx2"/>
                </a:solidFill>
              </a:rPr>
              <a:t>Method: TryHackMe AttackBox → ZAP Spider &amp; Active Scan</a:t>
            </a:r>
          </a:p>
          <a:p>
            <a:r>
              <a:rPr lang="en-US" sz="1800" dirty="0">
                <a:solidFill>
                  <a:schemeClr val="tx2"/>
                </a:solidFill>
              </a:rPr>
              <a:t>Outcome: Identify vulnerabilities and generate a report</a:t>
            </a:r>
            <a:endParaRPr lang="en-AU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43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85988-7A4B-3D7A-3FC4-FE2D2C87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US" sz="3600" u="sng" dirty="0"/>
              <a:t>Project objectives</a:t>
            </a:r>
            <a:endParaRPr lang="en-AU" sz="3600" u="sng" dirty="0"/>
          </a:p>
        </p:txBody>
      </p:sp>
      <p:pic>
        <p:nvPicPr>
          <p:cNvPr id="7172" name="Picture 4" descr="Defend Against Scattered Spider Attacks">
            <a:extLst>
              <a:ext uri="{FF2B5EF4-FFF2-40B4-BE49-F238E27FC236}">
                <a16:creationId xmlns:a16="http://schemas.microsoft.com/office/drawing/2014/main" id="{9668AFD3-B47A-F840-A910-DE6CB3C2B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746"/>
          <a:stretch>
            <a:fillRect/>
          </a:stretch>
        </p:blipFill>
        <p:spPr bwMode="auto"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8C48-9EF6-CCC4-400E-CB8BCE33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752850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US" sz="1800" dirty="0"/>
              <a:t>Learn practical web vulnerability assessment</a:t>
            </a:r>
          </a:p>
          <a:p>
            <a:r>
              <a:rPr lang="en-US" sz="1800" dirty="0"/>
              <a:t>Understand OWASP ZAP workflow: Proxy, Spider, Active Scan</a:t>
            </a:r>
          </a:p>
          <a:p>
            <a:r>
              <a:rPr lang="en-US" sz="1800" dirty="0"/>
              <a:t>Capture evidence for analysis and mitigation</a:t>
            </a:r>
          </a:p>
          <a:p>
            <a:r>
              <a:rPr lang="en-US" sz="1800" dirty="0"/>
              <a:t>Understood the whole testing process from setup to reporting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992502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Escalating Cyber Threats to Financial Systems Impact Investors">
            <a:extLst>
              <a:ext uri="{FF2B5EF4-FFF2-40B4-BE49-F238E27FC236}">
                <a16:creationId xmlns:a16="http://schemas.microsoft.com/office/drawing/2014/main" id="{B4E01A46-5E1D-9377-22BD-E3FDC90F5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2149"/>
          <a:stretch>
            <a:fillRect/>
          </a:stretch>
        </p:blipFill>
        <p:spPr bwMode="auto">
          <a:xfrm>
            <a:off x="-1" y="10"/>
            <a:ext cx="12228129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0" name="Group 1039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04D73CE-D903-4BB4-68D5-A33504968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chemeClr val="tx2"/>
                </a:solidFill>
              </a:rPr>
              <a:t>Methodology</a:t>
            </a:r>
            <a:endParaRPr lang="en-AU" sz="3600" u="sng" dirty="0">
              <a:solidFill>
                <a:schemeClr val="tx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4B46B-3440-659C-F7D7-69D3E3287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3712" y="4215336"/>
            <a:ext cx="6842947" cy="2474221"/>
          </a:xfrm>
        </p:spPr>
        <p:txBody>
          <a:bodyPr anchor="ctr">
            <a:normAutofit fontScale="92500" lnSpcReduction="20000"/>
          </a:bodyPr>
          <a:lstStyle/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Start TryHackMe machine &amp; get target IP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Launch OWASP ZAP in AttackBox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Configure browser to proxy through ZAP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Spider the site to discover URLs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Run Active Scan to identify vulnerabilities</a:t>
            </a:r>
          </a:p>
          <a:p>
            <a:pPr lvl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2"/>
                </a:solidFill>
                <a:latin typeface="Arial" panose="020B0604020202020204" pitchFamily="34" charset="0"/>
              </a:rPr>
              <a:t>Review Alerts &amp; generate HTML report</a:t>
            </a:r>
          </a:p>
          <a:p>
            <a:endParaRPr lang="en-AU" sz="17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74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9263E-B49F-7779-5D05-DD446EAFF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783"/>
            <a:ext cx="10515600" cy="858057"/>
          </a:xfrm>
        </p:spPr>
        <p:txBody>
          <a:bodyPr anchor="ctr">
            <a:normAutofit/>
          </a:bodyPr>
          <a:lstStyle/>
          <a:p>
            <a:r>
              <a:rPr lang="en-US" u="sng" dirty="0">
                <a:solidFill>
                  <a:schemeClr val="tx2"/>
                </a:solidFill>
              </a:rPr>
              <a:t>Evidences</a:t>
            </a:r>
            <a:endParaRPr lang="en-AU" u="sng" dirty="0">
              <a:solidFill>
                <a:schemeClr val="tx2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9FD958-40DE-B8C1-D1EC-92595ED5C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52160"/>
            <a:ext cx="10515600" cy="324802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AU" dirty="0">
                <a:solidFill>
                  <a:schemeClr val="tx2"/>
                </a:solidFill>
              </a:rPr>
              <a:t>Figure: profile with </a:t>
            </a:r>
            <a:r>
              <a:rPr lang="en-AU" dirty="0" err="1">
                <a:solidFill>
                  <a:schemeClr val="tx2"/>
                </a:solidFill>
              </a:rPr>
              <a:t>FedUni</a:t>
            </a:r>
            <a:r>
              <a:rPr lang="en-AU" dirty="0">
                <a:solidFill>
                  <a:schemeClr val="tx2"/>
                </a:solidFill>
              </a:rPr>
              <a:t> email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77EBC0-D777-2B6C-F554-495752B2E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7" y="877455"/>
            <a:ext cx="10732655" cy="483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13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5CF54C-1672-0DA7-120C-80007E804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27" y="502920"/>
            <a:ext cx="9901382" cy="478028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DE67435-7079-C913-9915-00F37148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67528"/>
            <a:ext cx="10515600" cy="6858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Figure: ZAP proxy set to 127.0.0.1:8081</a:t>
            </a:r>
            <a:endParaRPr lang="en-AU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92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7F96-7DB2-A511-3150-E3821522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03520"/>
            <a:ext cx="10515600" cy="685800"/>
          </a:xfrm>
        </p:spPr>
        <p:txBody>
          <a:bodyPr/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Figure: browser proxy set to 127.0.0.1:8081</a:t>
            </a:r>
            <a:endParaRPr lang="en-AU" dirty="0">
              <a:solidFill>
                <a:schemeClr val="tx2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315E77-CD30-FC43-3E29-1D8BE31A9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199" y="434110"/>
            <a:ext cx="9781309" cy="4869410"/>
          </a:xfrm>
        </p:spPr>
      </p:pic>
    </p:spTree>
    <p:extLst>
      <p:ext uri="{BB962C8B-B14F-4D97-AF65-F5344CB8AC3E}">
        <p14:creationId xmlns:p14="http://schemas.microsoft.com/office/powerpoint/2010/main" val="190936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040F-11C5-816D-B51C-D5BAAEF9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53634-A74E-2BB8-88A5-BF6873825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41847"/>
            <a:ext cx="10515600" cy="5351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000" dirty="0">
                <a:solidFill>
                  <a:schemeClr val="tx2"/>
                </a:solidFill>
              </a:rPr>
              <a:t>Figure: spider progress/results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463018-94AE-3DAC-1D56-D69F744D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543" y="185057"/>
            <a:ext cx="9731828" cy="545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13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4EE6-D48E-2F5C-B9CF-91E6930D1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77163"/>
            <a:ext cx="10515600" cy="249381"/>
          </a:xfrm>
        </p:spPr>
        <p:txBody>
          <a:bodyPr>
            <a:normAutofit fontScale="90000"/>
          </a:bodyPr>
          <a:lstStyle/>
          <a:p>
            <a:pPr algn="ctr"/>
            <a:r>
              <a:rPr lang="en-AU" sz="2800" dirty="0">
                <a:solidFill>
                  <a:schemeClr val="tx2"/>
                </a:solidFill>
              </a:rPr>
              <a:t>Figure: active scan progress</a:t>
            </a:r>
            <a:endParaRPr lang="en-AU" dirty="0">
              <a:solidFill>
                <a:schemeClr val="tx2"/>
              </a:solidFill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51FE0D7-9EBD-B1EA-077A-0B0AD59B8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255" y="203200"/>
            <a:ext cx="9014690" cy="4883872"/>
          </a:xfrm>
        </p:spPr>
      </p:pic>
    </p:spTree>
    <p:extLst>
      <p:ext uri="{BB962C8B-B14F-4D97-AF65-F5344CB8AC3E}">
        <p14:creationId xmlns:p14="http://schemas.microsoft.com/office/powerpoint/2010/main" val="2877092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ACB2C-0ECB-15E2-0D9B-D2DA26DF7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72124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000" u="sng" dirty="0">
                <a:solidFill>
                  <a:schemeClr val="tx2"/>
                </a:solidFill>
              </a:rPr>
              <a:t>Reflection</a:t>
            </a:r>
            <a:endParaRPr lang="en-AU" sz="4000" u="sng" dirty="0">
              <a:solidFill>
                <a:schemeClr val="tx2"/>
              </a:solidFill>
            </a:endParaRP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9EB5-1976-3297-8E26-D5DF9ED3A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Learned practical vulnerability assessment using ZAP</a:t>
            </a:r>
          </a:p>
          <a:p>
            <a:r>
              <a:rPr lang="en-US" sz="2000" dirty="0">
                <a:solidFill>
                  <a:schemeClr val="tx2"/>
                </a:solidFill>
              </a:rPr>
              <a:t>Understood web security concepts: XSS, SQLi, CSRF</a:t>
            </a:r>
          </a:p>
          <a:p>
            <a:r>
              <a:rPr lang="en-US" sz="2000" dirty="0">
                <a:solidFill>
                  <a:schemeClr val="tx2"/>
                </a:solidFill>
              </a:rPr>
              <a:t>Professional growth: preparing for cybersecurity roles</a:t>
            </a:r>
          </a:p>
          <a:p>
            <a:endParaRPr lang="en-AU" sz="2200" dirty="0"/>
          </a:p>
        </p:txBody>
      </p:sp>
      <p:pic>
        <p:nvPicPr>
          <p:cNvPr id="2050" name="Picture 2" descr="Keep Calm and Cyber On: Essential Online Safety Tips - Plugged In Series -  Issue #4">
            <a:extLst>
              <a:ext uri="{FF2B5EF4-FFF2-40B4-BE49-F238E27FC236}">
                <a16:creationId xmlns:a16="http://schemas.microsoft.com/office/drawing/2014/main" id="{85A3D247-4B50-F51B-DAA9-C51F82810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4" r="25125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844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E3012-B8EE-EA3E-AB0C-1DFEA41B6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u="sng" dirty="0">
                <a:solidFill>
                  <a:schemeClr val="tx2"/>
                </a:solidFill>
              </a:rPr>
              <a:t>Conclusion</a:t>
            </a:r>
            <a:endParaRPr lang="en-AU" u="sng" dirty="0">
              <a:solidFill>
                <a:schemeClr val="tx2"/>
              </a:solidFill>
            </a:endParaRPr>
          </a:p>
        </p:txBody>
      </p:sp>
      <p:sp>
        <p:nvSpPr>
          <p:cNvPr id="308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D8DFD-DE80-7809-5AD2-797A1C5EB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Project demonstrated application of cybersecurity skills</a:t>
            </a:r>
          </a:p>
          <a:p>
            <a:r>
              <a:rPr lang="en-US" sz="2000" dirty="0">
                <a:solidFill>
                  <a:schemeClr val="tx2"/>
                </a:solidFill>
              </a:rPr>
              <a:t>Captured evidence and suggested mitigations</a:t>
            </a:r>
          </a:p>
          <a:p>
            <a:r>
              <a:rPr lang="en-US" sz="2000" dirty="0">
                <a:solidFill>
                  <a:schemeClr val="tx2"/>
                </a:solidFill>
              </a:rPr>
              <a:t>Strengthened understanding of web vulnerability assessment. </a:t>
            </a:r>
            <a:endParaRPr lang="en-AU" sz="2000" dirty="0">
              <a:solidFill>
                <a:schemeClr val="tx2"/>
              </a:solidFill>
            </a:endParaRPr>
          </a:p>
        </p:txBody>
      </p:sp>
      <p:pic>
        <p:nvPicPr>
          <p:cNvPr id="3074" name="Picture 2" descr="Online Safety and Cyber Crime support for schools">
            <a:extLst>
              <a:ext uri="{FF2B5EF4-FFF2-40B4-BE49-F238E27FC236}">
                <a16:creationId xmlns:a16="http://schemas.microsoft.com/office/drawing/2014/main" id="{4F62CC8C-FCD9-653B-ECA2-9A6855BDB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840105"/>
            <a:ext cx="6903720" cy="517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1253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98120-18B5-0AF4-2081-B59E4F66A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2"/>
                </a:solidFill>
              </a:rPr>
              <a:t>Thank you!</a:t>
            </a:r>
          </a:p>
        </p:txBody>
      </p:sp>
      <p:sp>
        <p:nvSpPr>
          <p:cNvPr id="41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Guide to the Online Safety Bill | SWGfL">
            <a:extLst>
              <a:ext uri="{FF2B5EF4-FFF2-40B4-BE49-F238E27FC236}">
                <a16:creationId xmlns:a16="http://schemas.microsoft.com/office/drawing/2014/main" id="{C04803AB-7F14-194D-B27E-F9A6AC673E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" r="11008" b="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473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217</Words>
  <Application>Microsoft Office PowerPoint</Application>
  <PresentationFormat>Widescreen</PresentationFormat>
  <Paragraphs>38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Cybersecurity Vulnerability Assessment using OWASP ZAP</vt:lpstr>
      <vt:lpstr>Project Summary</vt:lpstr>
      <vt:lpstr>Project objectives</vt:lpstr>
      <vt:lpstr>Methodology</vt:lpstr>
      <vt:lpstr>Evidences</vt:lpstr>
      <vt:lpstr>Figure: ZAP proxy set to 127.0.0.1:8081</vt:lpstr>
      <vt:lpstr>Figure: browser proxy set to 127.0.0.1:8081</vt:lpstr>
      <vt:lpstr>PowerPoint Presentation</vt:lpstr>
      <vt:lpstr>Figure: active scan progress</vt:lpstr>
      <vt:lpstr>Reflection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Khushi Tusharbhai Ajmeri</dc:creator>
  <cp:lastModifiedBy>Khushi Tusharbhai Ajmeri</cp:lastModifiedBy>
  <cp:revision>7</cp:revision>
  <dcterms:created xsi:type="dcterms:W3CDTF">2025-10-16T02:21:52Z</dcterms:created>
  <dcterms:modified xsi:type="dcterms:W3CDTF">2025-10-16T23:41:20Z</dcterms:modified>
</cp:coreProperties>
</file>